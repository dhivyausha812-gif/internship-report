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3"/>
  </p:notesMasterIdLst>
  <p:sldIdLst>
    <p:sldId id="257" r:id="rId2"/>
    <p:sldId id="258" r:id="rId8"/>
    <p:sldId id="259" r:id="rId9"/>
    <p:sldId id="260" r:id="rId10"/>
    <p:sldId id="261" r:id="rId12"/>
    <p:sldId id="263" r:id="rId13"/>
    <p:sldId id="26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6.xml"/>  <Relationship Id="rId15" Type="http://schemas.openxmlformats.org/officeDocument/2006/relationships/slide" Target="slides/slide8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0C02B-1C44-4800-AAD2-C9F1B3F25D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12DC1-2AD0-443A-9653-F95D72EF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5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9654" y="215903"/>
            <a:ext cx="1117269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3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1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6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3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96753" y="1241046"/>
            <a:ext cx="44907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 u="sng">
                <a:solidFill>
                  <a:srgbClr val="604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0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0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1074405" y="6562710"/>
            <a:ext cx="376767" cy="246221"/>
          </a:xfrm>
          <a:solidFill>
            <a:schemeClr val="tx2"/>
          </a:solidFill>
        </p:spPr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81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2E005F-C97F-4E2E-9403-743DD014655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1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7E94-3850-5959-580B-4BFD89E5D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B8702-2000-59F7-6190-62360FF81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EAF1C-4425-A15D-BD8B-58616FE3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E005F-C97F-4E2E-9403-743DD014655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DE96D-F2E8-3DD3-E8A1-60C718B9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6566E-E6B0-CDB0-D6E9-44243550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864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6100" y="319535"/>
            <a:ext cx="863980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2733" y="1441452"/>
            <a:ext cx="107950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3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3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4405" y="6611615"/>
            <a:ext cx="376767" cy="246221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9560986" y="990601"/>
            <a:ext cx="1701801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2202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page1.jpg"/><Relationship Id="rId3" Type="http://schemas.openxmlformats.org/officeDocument/2006/relationships/image" Target="../media/page2.jpg"/><Relationship Id="rId4" Type="http://schemas.openxmlformats.org/officeDocument/2006/relationships/image" Target="../media/page3.jpg"/><Relationship Id="rId5" Type="http://schemas.openxmlformats.org/officeDocument/2006/relationships/image" Target="../media/page4.jpg"/><Relationship Id="rId6" Type="http://schemas.openxmlformats.org/officeDocument/2006/relationships/image" Target="../media/page5.jp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project.jp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certificate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4000" b="1" dirty="0">
                <a:solidFill>
                  <a:srgbClr val="801600"/>
                </a:solidFill>
                <a:latin typeface="Calibri"/>
              </a:rPr>
              <a:t xml:space="preserve">WEB DEVELOPMENT INTERNSHIP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2400" b="1" dirty="0">
                <a:solidFill>
                  <a:srgbClr val="2B2B2B"/>
                </a:solidFill>
                <a:latin typeface="Calibri"/>
              </a:rPr>
              <a:t xml:space="preserve">Simple Calculator and E-Commerce Website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30175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800" b="1" dirty="0">
                <a:solidFill>
                  <a:srgbClr val="C83200"/>
                </a:solidFill>
                <a:latin typeface="Calibri"/>
              </a:rPr>
              <a:t xml:space="preserve">03.08.2026 to 17.08.2026  |  InternPe  |  Web Development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2960" y="3611880"/>
            <a:ext cx="105156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800" b="0" dirty="0">
                <a:solidFill>
                  <a:srgbClr val="2B2B2B"/>
                </a:solidFill>
                <a:latin typeface="Calibri"/>
              </a:rPr>
              <a:t xml:space="preserve">Presented by: </a:t>
            </a:r>
            <a:r>
              <a:rPr lang="en-US" sz="1800" b="1" dirty="0">
                <a:solidFill>
                  <a:srgbClr val="2B2B2B"/>
                </a:solidFill>
                <a:latin typeface="Calibri"/>
              </a:rPr>
              <a:t xml:space="preserve">DHIVYA R</a:t>
            </a:r>
          </a:p>
          <a:p>
            <a:pPr algn="l">
              <a:spcAft>
                <a:spcPts val="400"/>
              </a:spcAft>
            </a:pPr>
            <a:r>
              <a:rPr lang="en-US" sz="1800" b="0" dirty="0">
                <a:solidFill>
                  <a:srgbClr val="2B2B2B"/>
                </a:solidFill>
                <a:latin typeface="Calibri"/>
              </a:rPr>
              <a:t xml:space="preserve">Reg. No. 110725102047</a:t>
            </a:r>
          </a:p>
          <a:p>
            <a:pPr algn="l">
              <a:spcAft>
                <a:spcPts val="400"/>
              </a:spcAft>
            </a:pPr>
            <a:r>
              <a:rPr lang="en-US" sz="1800" b="0" dirty="0">
                <a:solidFill>
                  <a:srgbClr val="2B2B2B"/>
                </a:solidFill>
                <a:latin typeface="Calibri"/>
              </a:rPr>
              <a:t xml:space="preserve">J.N.N Institute of Engineering  |  2026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7"/>
          </p:nvPr>
        </p:nvSpPr>
        <p:spPr>
          <a:xfrm>
            <a:off x="10990000" y="6520000"/>
            <a:ext cx="572000" cy="300000"/>
          </a:xfr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fld id="{65C9472B-1202-4233-AC4E-A5AD73FFF9C1}" type="slidenum">
              <a:rPr lang="en-US" sz="1600" b="1">
                <a:solidFill>
                  <a:srgbClr val="801800"/>
                </a:solidFill>
              </a:rPr>
              <a:t>‹#›</a:t>
            </a:fld>
            <a:endParaRPr lang="en-US" sz="1600" b="1">
              <a:solidFill>
                <a:srgbClr val="8018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73152"/>
            <a:ext cx="7498079" cy="384048"/>
          </a:xfrm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Internship Organization</a:t>
            </a:r>
          </a:p>
        </p:txBody>
      </p:sp>
      <p:sp>
        <p:nvSpPr>
          <p:cNvPr id="3" name="Rounded Rectangle 3"/>
          <p:cNvSpPr/>
          <p:nvPr/>
        </p:nvSpPr>
        <p:spPr>
          <a:xfrm>
            <a:off x="640080" y="128016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4" name="TextBox 4"/>
          <p:cNvSpPr txBox="1"/>
          <p:nvPr/>
        </p:nvSpPr>
        <p:spPr>
          <a:xfrm>
            <a:off x="822960" y="137160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dirty="0">
                <a:solidFill>
                  <a:srgbClr val="801600"/>
                </a:solidFill>
                <a:latin typeface="Calibri"/>
              </a:rPr>
              <a:t xml:space="preserve">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60320" y="137160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2B2B2B"/>
                </a:solidFill>
                <a:latin typeface="Calibri"/>
              </a:rPr>
              <a:t xml:space="preserve">InternPe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2960" y="201168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dirty="0">
                <a:solidFill>
                  <a:srgbClr val="801600"/>
                </a:solidFill>
                <a:latin typeface="Calibri"/>
              </a:rPr>
              <a:t xml:space="preserve">Course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60320" y="201168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2B2B2B"/>
                </a:solidFill>
                <a:latin typeface="Calibri"/>
              </a:rPr>
              <a:t xml:space="preserve">Web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265176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dirty="0">
                <a:solidFill>
                  <a:srgbClr val="801600"/>
                </a:solidFill>
                <a:latin typeface="Calibri"/>
              </a:rPr>
              <a:t xml:space="preserve">Role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0320" y="265176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2B2B2B"/>
                </a:solidFill>
                <a:latin typeface="Calibri"/>
              </a:rPr>
              <a:t xml:space="preserve">Web Development Intern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329184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dirty="0">
                <a:solidFill>
                  <a:srgbClr val="801600"/>
                </a:solidFill>
                <a:latin typeface="Calibri"/>
              </a:rPr>
              <a:t xml:space="preserve">Project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60320" y="329184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2B2B2B"/>
                </a:solidFill>
                <a:latin typeface="Calibri"/>
              </a:rPr>
              <a:t xml:space="preserve">Simple Calculator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" y="393192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dirty="0">
                <a:solidFill>
                  <a:srgbClr val="801600"/>
                </a:solidFill>
                <a:latin typeface="Calibri"/>
              </a:rPr>
              <a:t xml:space="preserve">Project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60320" y="393192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2B2B2B"/>
                </a:solidFill>
                <a:latin typeface="Calibri"/>
              </a:rPr>
              <a:t xml:space="preserve">E-Commerce Website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960" y="457200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1" dirty="0">
                <a:solidFill>
                  <a:srgbClr val="801600"/>
                </a:solidFill>
                <a:latin typeface="Calibri"/>
              </a:rPr>
              <a:t xml:space="preserve">Technologies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60320" y="457200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2B2B2B"/>
                </a:solidFill>
                <a:latin typeface="Calibri"/>
              </a:rPr>
              <a:t xml:space="preserve">HTML, CSS, JavaScript</a:t>
            </a:r>
          </a:p>
        </p:txBody>
      </p:sp>
      <p:sp>
        <p:nvSpPr>
          <p:cNvPr id="16" name="Rounded Rectangle 16"/>
          <p:cNvSpPr/>
          <p:nvPr/>
        </p:nvSpPr>
        <p:spPr>
          <a:xfrm>
            <a:off x="6400800" y="128016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7" name="TextBox 17"/>
          <p:cNvSpPr txBox="1"/>
          <p:nvPr/>
        </p:nvSpPr>
        <p:spPr>
          <a:xfrm>
            <a:off x="6537960" y="1371600"/>
            <a:ext cx="48463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900" b="1" dirty="0">
                <a:solidFill>
                  <a:srgbClr val="801600"/>
                </a:solidFill>
                <a:latin typeface="Calibri"/>
              </a:rPr>
              <a:t xml:space="preserve">Internship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7960" y="1828800"/>
            <a:ext cx="4846320" cy="3383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1100"/>
              </a:spcAft>
            </a:pPr>
            <a:r>
              <a:rPr lang="en-US" sz="1600" b="1" dirty="0">
                <a:solidFill>
                  <a:srgbClr val="C83200"/>
                </a:solidFill>
                <a:latin typeface="Calibri"/>
              </a:rPr>
              <a:t xml:space="preserve">1   </a:t>
            </a:r>
            <a:r>
              <a:rPr lang="en-US" sz="1600" b="1" dirty="0">
                <a:solidFill>
                  <a:srgbClr val="801600"/>
                </a:solidFill>
                <a:latin typeface="Calibri"/>
              </a:rPr>
              <a:t xml:space="preserve">Focus — </a:t>
            </a:r>
            <a:r>
              <a:rPr lang="en-US" sz="1600" b="0" dirty="0">
                <a:solidFill>
                  <a:srgbClr val="2B2B2B"/>
                </a:solidFill>
                <a:latin typeface="Calibri"/>
              </a:rPr>
              <a:t xml:space="preserve">Built two hands-on projects in the InternPe Web Development course.</a:t>
            </a:r>
          </a:p>
          <a:p>
            <a:pPr algn="l">
              <a:spcAft>
                <a:spcPts val="1100"/>
              </a:spcAft>
            </a:pPr>
            <a:r>
              <a:rPr lang="en-US" sz="1600" b="1" dirty="0">
                <a:solidFill>
                  <a:srgbClr val="C83200"/>
                </a:solidFill>
                <a:latin typeface="Calibri"/>
              </a:rPr>
              <a:t xml:space="preserve">2   </a:t>
            </a:r>
            <a:r>
              <a:rPr lang="en-US" sz="1600" b="1" dirty="0">
                <a:solidFill>
                  <a:srgbClr val="801600"/>
                </a:solidFill>
                <a:latin typeface="Calibri"/>
              </a:rPr>
              <a:t xml:space="preserve">Learn — </a:t>
            </a:r>
            <a:r>
              <a:rPr lang="en-US" sz="1600" b="0" dirty="0">
                <a:solidFill>
                  <a:srgbClr val="2B2B2B"/>
                </a:solidFill>
                <a:latin typeface="Calibri"/>
              </a:rPr>
              <a:t xml:space="preserve">Revised HTML, CSS and JavaScript before each project.</a:t>
            </a:r>
          </a:p>
          <a:p>
            <a:pPr algn="l">
              <a:spcAft>
                <a:spcPts val="1100"/>
              </a:spcAft>
            </a:pPr>
            <a:r>
              <a:rPr lang="en-US" sz="1600" b="1" dirty="0">
                <a:solidFill>
                  <a:srgbClr val="C83200"/>
                </a:solidFill>
                <a:latin typeface="Calibri"/>
              </a:rPr>
              <a:t xml:space="preserve">3   </a:t>
            </a:r>
            <a:r>
              <a:rPr lang="en-US" sz="1600" b="1" dirty="0">
                <a:solidFill>
                  <a:srgbClr val="801600"/>
                </a:solidFill>
                <a:latin typeface="Calibri"/>
              </a:rPr>
              <a:t xml:space="preserve">Calculator — </a:t>
            </a:r>
            <a:r>
              <a:rPr lang="en-US" sz="1600" b="0" dirty="0">
                <a:solidFill>
                  <a:srgbClr val="2B2B2B"/>
                </a:solidFill>
                <a:latin typeface="Calibri"/>
              </a:rPr>
              <a:t xml:space="preserve">Responsive calculator for basic arithmetic using DOM events.</a:t>
            </a:r>
          </a:p>
          <a:p>
            <a:pPr algn="l">
              <a:spcAft>
                <a:spcPts val="1100"/>
              </a:spcAft>
            </a:pPr>
            <a:r>
              <a:rPr lang="en-US" sz="1600" b="1" dirty="0">
                <a:solidFill>
                  <a:srgbClr val="C83200"/>
                </a:solidFill>
                <a:latin typeface="Calibri"/>
              </a:rPr>
              <a:t xml:space="preserve">4   </a:t>
            </a:r>
            <a:r>
              <a:rPr lang="en-US" sz="1600" b="1" dirty="0">
                <a:solidFill>
                  <a:srgbClr val="801600"/>
                </a:solidFill>
                <a:latin typeface="Calibri"/>
              </a:rPr>
              <a:t xml:space="preserve">E-Commerce — </a:t>
            </a:r>
            <a:r>
              <a:rPr lang="en-US" sz="1600" b="0" dirty="0">
                <a:solidFill>
                  <a:srgbClr val="2B2B2B"/>
                </a:solidFill>
                <a:latin typeface="Calibri"/>
              </a:rPr>
              <a:t xml:space="preserve">Product listing, shopping cart and checkout pages with a responsive layout.</a:t>
            </a:r>
          </a:p>
          <a:p>
            <a:pPr algn="l">
              <a:spcAft>
                <a:spcPts val="1100"/>
              </a:spcAft>
            </a:pPr>
            <a:r>
              <a:rPr lang="en-US" sz="1600" b="1" dirty="0">
                <a:solidFill>
                  <a:srgbClr val="C83200"/>
                </a:solidFill>
                <a:latin typeface="Calibri"/>
              </a:rPr>
              <a:t xml:space="preserve">5   </a:t>
            </a:r>
            <a:r>
              <a:rPr lang="en-US" sz="1600" b="1" dirty="0">
                <a:solidFill>
                  <a:srgbClr val="801600"/>
                </a:solidFill>
                <a:latin typeface="Calibri"/>
              </a:rPr>
              <a:t xml:space="preserve">Result — </a:t>
            </a:r>
            <a:r>
              <a:rPr lang="en-US" sz="1600" b="0" dirty="0">
                <a:solidFill>
                  <a:srgbClr val="2B2B2B"/>
                </a:solidFill>
                <a:latin typeface="Calibri"/>
              </a:rPr>
              <a:t xml:space="preserve">Tested on different screens and organised the code on GitHub.</a:t>
            </a:r>
          </a:p>
        </p:txBody>
      </p:sp>
      <p:sp>
        <p:nvSpPr>
          <p:cNvPr id="19" name="Slide Number Placeholder 19"/>
          <p:cNvSpPr>
            <a:spLocks noGrp="1"/>
          </p:cNvSpPr>
          <p:nvPr>
            <p:ph type="sldNum" sz="quarter" idx="7"/>
          </p:nvPr>
        </p:nvSpPr>
        <p:spPr>
          <a:xfrm>
            <a:off x="10990000" y="6520000"/>
            <a:ext cx="572000" cy="300000"/>
          </a:xfr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fld id="{65C9472B-1202-4233-AC4E-A5AD73FFF9C1}" type="slidenum">
              <a:rPr lang="en-US" sz="1600" b="1">
                <a:solidFill>
                  <a:srgbClr val="801800"/>
                </a:solidFill>
              </a:rPr>
              <a:t>‹#›</a:t>
            </a:fld>
            <a:endParaRPr lang="en-US" sz="1600" b="1">
              <a:solidFill>
                <a:srgbClr val="8018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73152"/>
            <a:ext cx="7498079" cy="384048"/>
          </a:xfrm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Technologies &amp; Concepts</a:t>
            </a:r>
          </a:p>
        </p:txBody>
      </p:sp>
      <p:sp>
        <p:nvSpPr>
          <p:cNvPr id="3" name="Rounded Rectangle 3"/>
          <p:cNvSpPr/>
          <p:nvPr/>
        </p:nvSpPr>
        <p:spPr>
          <a:xfrm>
            <a:off x="640080" y="1234440"/>
            <a:ext cx="3502152" cy="361188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4" name="TextBox 4"/>
          <p:cNvSpPr txBox="1"/>
          <p:nvPr/>
        </p:nvSpPr>
        <p:spPr>
          <a:xfrm>
            <a:off x="640080" y="1280160"/>
            <a:ext cx="3502152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2200" b="1" dirty="0">
                <a:solidFill>
                  <a:srgbClr val="801600"/>
                </a:solidFill>
                <a:latin typeface="Calibri"/>
              </a:rPr>
              <a:t xml:space="preserve">HTML5 + Semantic Markup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" y="1783080"/>
            <a:ext cx="3227832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What I learned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Page structure using semantic tags, forms, inputs, buttons, tables and lists.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Why it is useful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Gives every page a clear, accessible and search-friendly structure.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How I applied it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Built the calculator keypad and display, and the product, cart and checkout pages.</a:t>
            </a:r>
          </a:p>
        </p:txBody>
      </p:sp>
      <p:sp>
        <p:nvSpPr>
          <p:cNvPr id="6" name="Rounded Rectangle 6"/>
          <p:cNvSpPr/>
          <p:nvPr/>
        </p:nvSpPr>
        <p:spPr>
          <a:xfrm>
            <a:off x="4329684" y="1234440"/>
            <a:ext cx="3502152" cy="361188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4329684" y="1280160"/>
            <a:ext cx="3502152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2200" b="1" dirty="0">
                <a:solidFill>
                  <a:srgbClr val="801600"/>
                </a:solidFill>
                <a:latin typeface="Calibri"/>
              </a:rPr>
              <a:t xml:space="preserve">CSS3 + Responsive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6844" y="1783080"/>
            <a:ext cx="3227832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What I learned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Flexbox, Grid, box model, colours, transitions and media queries.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Why it is useful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Makes pages look good and adapt to mobile, tablet and desktop screens.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How I applied it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Styled the calculator buttons, product cards and a responsive shopping layout.</a:t>
            </a:r>
          </a:p>
        </p:txBody>
      </p:sp>
      <p:sp>
        <p:nvSpPr>
          <p:cNvPr id="9" name="Rounded Rectangle 9"/>
          <p:cNvSpPr/>
          <p:nvPr/>
        </p:nvSpPr>
        <p:spPr>
          <a:xfrm>
            <a:off x="8019288" y="1234440"/>
            <a:ext cx="3502152" cy="361188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0" name="TextBox 10"/>
          <p:cNvSpPr txBox="1"/>
          <p:nvPr/>
        </p:nvSpPr>
        <p:spPr>
          <a:xfrm>
            <a:off x="8019288" y="1280160"/>
            <a:ext cx="3502152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2200" b="1" dirty="0">
                <a:solidFill>
                  <a:srgbClr val="801600"/>
                </a:solidFill>
                <a:latin typeface="Calibri"/>
              </a:rPr>
              <a:t xml:space="preserve">JavaScript + DOM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56448" y="1783080"/>
            <a:ext cx="3227832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What I learned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Variables, functions, events, arrays, objects and DOM manipulation.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Why it is useful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Makes pages interactive without reloading the browser.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How I applied it</a:t>
            </a:r>
          </a:p>
          <a:p>
            <a:pPr algn="l">
              <a:spcAft>
                <a:spcPts val="9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Calculator operations, add-to-cart, quantity updates and live total price calculation.</a:t>
            </a:r>
          </a:p>
        </p:txBody>
      </p:sp>
      <p:sp>
        <p:nvSpPr>
          <p:cNvPr id="12" name="Rounded Rectangle 12"/>
          <p:cNvSpPr/>
          <p:nvPr/>
        </p:nvSpPr>
        <p:spPr>
          <a:xfrm>
            <a:off x="640080" y="4937760"/>
            <a:ext cx="10881360" cy="384048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3" name="TextBox 13"/>
          <p:cNvSpPr txBox="1"/>
          <p:nvPr/>
        </p:nvSpPr>
        <p:spPr>
          <a:xfrm>
            <a:off x="731520" y="4937760"/>
            <a:ext cx="1069848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801600"/>
                </a:solidFill>
                <a:latin typeface="Calibri"/>
              </a:rPr>
              <a:t xml:space="preserve">Also used:  </a:t>
            </a:r>
            <a:r>
              <a:rPr lang="en-US" sz="1300" b="0" dirty="0">
                <a:solidFill>
                  <a:srgbClr val="2B2B2B"/>
                </a:solidFill>
                <a:latin typeface="Calibri"/>
              </a:rPr>
              <a:t xml:space="preserve">VS Code  •  Git and GitHub  •  Browser DevTools  •  LocalStorage  •  Live Server</a:t>
            </a:r>
          </a:p>
        </p:txBody>
      </p:sp>
      <p:sp>
        <p:nvSpPr>
          <p:cNvPr id="14" name="Slide Number Placeholder 14"/>
          <p:cNvSpPr>
            <a:spLocks noGrp="1"/>
          </p:cNvSpPr>
          <p:nvPr>
            <p:ph type="sldNum" sz="quarter" idx="7"/>
          </p:nvPr>
        </p:nvSpPr>
        <p:spPr>
          <a:xfrm>
            <a:off x="10990000" y="6520000"/>
            <a:ext cx="572000" cy="300000"/>
          </a:xfr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fld id="{65C9472B-1202-4233-AC4E-A5AD73FFF9C1}" type="slidenum">
              <a:rPr lang="en-US" sz="1600" b="1">
                <a:solidFill>
                  <a:srgbClr val="801800"/>
                </a:solidFill>
              </a:rPr>
              <a:t>‹#›</a:t>
            </a:fld>
            <a:endParaRPr lang="en-US" sz="1600" b="1">
              <a:solidFill>
                <a:srgbClr val="8018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73152"/>
            <a:ext cx="7498079" cy="384048"/>
          </a:xfrm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Practical Experience</a:t>
            </a:r>
          </a:p>
        </p:txBody>
      </p:sp>
      <p:sp>
        <p:nvSpPr>
          <p:cNvPr id="3" name="Rounded Rectangle 3"/>
          <p:cNvSpPr/>
          <p:nvPr/>
        </p:nvSpPr>
        <p:spPr>
          <a:xfrm>
            <a:off x="640080" y="1188720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 xml:space="preserve">5 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 xml:space="preserve">key modules built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49040" y="1188720"/>
            <a:ext cx="77724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Both projects were built step by step, with every module tested in the browser before moving on to the next.</a:t>
            </a:r>
          </a:p>
        </p:txBody>
      </p:sp>
      <p:sp>
        <p:nvSpPr>
          <p:cNvPr id="5" name="Rounded Rectangle 5"/>
          <p:cNvSpPr/>
          <p:nvPr/>
        </p:nvSpPr>
        <p:spPr>
          <a:xfrm>
            <a:off x="640080" y="1874520"/>
            <a:ext cx="2066544" cy="228600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685800" y="3200400"/>
            <a:ext cx="1975104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01  Calculator UI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3474720"/>
            <a:ext cx="197510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0" dirty="0">
                <a:solidFill>
                  <a:srgbClr val="2B2B2B"/>
                </a:solidFill>
                <a:latin typeface="Calibri"/>
              </a:rPr>
              <a:t xml:space="preserve">Responsive keypad with display and clear / delete buttons</a:t>
            </a:r>
          </a:p>
        </p:txBody>
      </p:sp>
      <p:sp>
        <p:nvSpPr>
          <p:cNvPr id="9" name="Rounded Rectangle 9"/>
          <p:cNvSpPr/>
          <p:nvPr/>
        </p:nvSpPr>
        <p:spPr>
          <a:xfrm>
            <a:off x="2843784" y="1874520"/>
            <a:ext cx="2066544" cy="228600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1" name="TextBox 11"/>
          <p:cNvSpPr txBox="1"/>
          <p:nvPr/>
        </p:nvSpPr>
        <p:spPr>
          <a:xfrm>
            <a:off x="2889504" y="3200400"/>
            <a:ext cx="1975104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02  Calculator Logic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89504" y="3474720"/>
            <a:ext cx="197510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0" dirty="0">
                <a:solidFill>
                  <a:srgbClr val="2B2B2B"/>
                </a:solidFill>
                <a:latin typeface="Calibri"/>
              </a:rPr>
              <a:t xml:space="preserve">Addition, subtraction, multiplication, division and error handling</a:t>
            </a:r>
          </a:p>
        </p:txBody>
      </p:sp>
      <p:sp>
        <p:nvSpPr>
          <p:cNvPr id="13" name="Rounded Rectangle 13"/>
          <p:cNvSpPr/>
          <p:nvPr/>
        </p:nvSpPr>
        <p:spPr>
          <a:xfrm>
            <a:off x="5047488" y="1874520"/>
            <a:ext cx="2066544" cy="228600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5" name="TextBox 15"/>
          <p:cNvSpPr txBox="1"/>
          <p:nvPr/>
        </p:nvSpPr>
        <p:spPr>
          <a:xfrm>
            <a:off x="5093208" y="3200400"/>
            <a:ext cx="1975104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03  Product Listing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93208" y="3474720"/>
            <a:ext cx="197510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0" dirty="0">
                <a:solidFill>
                  <a:srgbClr val="2B2B2B"/>
                </a:solidFill>
                <a:latin typeface="Calibri"/>
              </a:rPr>
              <a:t xml:space="preserve">Product cards with image, name, price and Add to Cart button</a:t>
            </a:r>
          </a:p>
        </p:txBody>
      </p:sp>
      <p:sp>
        <p:nvSpPr>
          <p:cNvPr id="17" name="Rounded Rectangle 17"/>
          <p:cNvSpPr/>
          <p:nvPr/>
        </p:nvSpPr>
        <p:spPr>
          <a:xfrm>
            <a:off x="7251192" y="1874520"/>
            <a:ext cx="2066544" cy="228600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9" name="TextBox 19"/>
          <p:cNvSpPr txBox="1"/>
          <p:nvPr/>
        </p:nvSpPr>
        <p:spPr>
          <a:xfrm>
            <a:off x="7296912" y="3200400"/>
            <a:ext cx="1975104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04  Shopping Cart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96912" y="3474720"/>
            <a:ext cx="197510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0" dirty="0">
                <a:solidFill>
                  <a:srgbClr val="2B2B2B"/>
                </a:solidFill>
                <a:latin typeface="Calibri"/>
              </a:rPr>
              <a:t xml:space="preserve">Quantity update, remove item and automatic total price</a:t>
            </a:r>
          </a:p>
        </p:txBody>
      </p:sp>
      <p:sp>
        <p:nvSpPr>
          <p:cNvPr id="21" name="Rounded Rectangle 21"/>
          <p:cNvSpPr/>
          <p:nvPr/>
        </p:nvSpPr>
        <p:spPr>
          <a:xfrm>
            <a:off x="9454896" y="1874520"/>
            <a:ext cx="2066544" cy="228600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23" name="TextBox 23"/>
          <p:cNvSpPr txBox="1"/>
          <p:nvPr/>
        </p:nvSpPr>
        <p:spPr>
          <a:xfrm>
            <a:off x="9500616" y="3200400"/>
            <a:ext cx="1975104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05  Checkout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00616" y="3474720"/>
            <a:ext cx="197510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0" dirty="0">
                <a:solidFill>
                  <a:srgbClr val="2B2B2B"/>
                </a:solidFill>
                <a:latin typeface="Calibri"/>
              </a:rPr>
              <a:t xml:space="preserve">Customer details form with validation and order confirmation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0080" y="4224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C83200"/>
                </a:solidFill>
                <a:latin typeface="Calibri"/>
              </a:rPr>
              <a:t xml:space="preserve">Workflow followed</a:t>
            </a:r>
          </a:p>
        </p:txBody>
      </p:sp>
      <p:sp>
        <p:nvSpPr>
          <p:cNvPr id="26" name="Rounded Rectangle 26"/>
          <p:cNvSpPr/>
          <p:nvPr/>
        </p:nvSpPr>
        <p:spPr>
          <a:xfrm>
            <a:off x="640080" y="452628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 xml:space="preserve">Plan</a:t>
            </a:r>
          </a:p>
        </p:txBody>
      </p:sp>
      <p:sp>
        <p:nvSpPr>
          <p:cNvPr id="27" name="Right Arrow 27"/>
          <p:cNvSpPr/>
          <p:nvPr/>
        </p:nvSpPr>
        <p:spPr>
          <a:xfrm>
            <a:off x="2176272" y="4636008"/>
            <a:ext cx="274320" cy="22860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28" name="TextBox 28"/>
          <p:cNvSpPr txBox="1"/>
          <p:nvPr/>
        </p:nvSpPr>
        <p:spPr>
          <a:xfrm>
            <a:off x="640080" y="500176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b="0" dirty="0">
                <a:solidFill>
                  <a:srgbClr val="5A5A5A"/>
                </a:solidFill>
                <a:latin typeface="Calibri"/>
              </a:rPr>
              <a:t xml:space="preserve">Step 1</a:t>
            </a:r>
          </a:p>
        </p:txBody>
      </p:sp>
      <p:sp>
        <p:nvSpPr>
          <p:cNvPr id="29" name="Rounded Rectangle 29"/>
          <p:cNvSpPr/>
          <p:nvPr/>
        </p:nvSpPr>
        <p:spPr>
          <a:xfrm>
            <a:off x="2523744" y="452628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 xml:space="preserve">Design</a:t>
            </a:r>
          </a:p>
        </p:txBody>
      </p:sp>
      <p:sp>
        <p:nvSpPr>
          <p:cNvPr id="30" name="Right Arrow 30"/>
          <p:cNvSpPr/>
          <p:nvPr/>
        </p:nvSpPr>
        <p:spPr>
          <a:xfrm>
            <a:off x="4059936" y="4636008"/>
            <a:ext cx="274320" cy="22860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1" name="TextBox 31"/>
          <p:cNvSpPr txBox="1"/>
          <p:nvPr/>
        </p:nvSpPr>
        <p:spPr>
          <a:xfrm>
            <a:off x="2523744" y="500176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b="0" dirty="0">
                <a:solidFill>
                  <a:srgbClr val="5A5A5A"/>
                </a:solidFill>
                <a:latin typeface="Calibri"/>
              </a:rPr>
              <a:t xml:space="preserve">Step 2</a:t>
            </a:r>
          </a:p>
        </p:txBody>
      </p:sp>
      <p:sp>
        <p:nvSpPr>
          <p:cNvPr id="32" name="Rounded Rectangle 32"/>
          <p:cNvSpPr/>
          <p:nvPr/>
        </p:nvSpPr>
        <p:spPr>
          <a:xfrm>
            <a:off x="4407408" y="452628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 xml:space="preserve">Code</a:t>
            </a:r>
          </a:p>
        </p:txBody>
      </p:sp>
      <p:sp>
        <p:nvSpPr>
          <p:cNvPr id="33" name="Right Arrow 33"/>
          <p:cNvSpPr/>
          <p:nvPr/>
        </p:nvSpPr>
        <p:spPr>
          <a:xfrm>
            <a:off x="5943600" y="4636008"/>
            <a:ext cx="274320" cy="22860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4" name="TextBox 34"/>
          <p:cNvSpPr txBox="1"/>
          <p:nvPr/>
        </p:nvSpPr>
        <p:spPr>
          <a:xfrm>
            <a:off x="4407408" y="500176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b="0" dirty="0">
                <a:solidFill>
                  <a:srgbClr val="5A5A5A"/>
                </a:solidFill>
                <a:latin typeface="Calibri"/>
              </a:rPr>
              <a:t xml:space="preserve">Step 3</a:t>
            </a:r>
          </a:p>
        </p:txBody>
      </p:sp>
      <p:sp>
        <p:nvSpPr>
          <p:cNvPr id="35" name="Rounded Rectangle 35"/>
          <p:cNvSpPr/>
          <p:nvPr/>
        </p:nvSpPr>
        <p:spPr>
          <a:xfrm>
            <a:off x="6291072" y="452628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 xml:space="preserve">Debug</a:t>
            </a:r>
          </a:p>
        </p:txBody>
      </p:sp>
      <p:sp>
        <p:nvSpPr>
          <p:cNvPr id="36" name="Right Arrow 36"/>
          <p:cNvSpPr/>
          <p:nvPr/>
        </p:nvSpPr>
        <p:spPr>
          <a:xfrm>
            <a:off x="7827264" y="4636008"/>
            <a:ext cx="274320" cy="22860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7" name="TextBox 37"/>
          <p:cNvSpPr txBox="1"/>
          <p:nvPr/>
        </p:nvSpPr>
        <p:spPr>
          <a:xfrm>
            <a:off x="6291072" y="500176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b="0" dirty="0">
                <a:solidFill>
                  <a:srgbClr val="5A5A5A"/>
                </a:solidFill>
                <a:latin typeface="Calibri"/>
              </a:rPr>
              <a:t xml:space="preserve">Step 4</a:t>
            </a:r>
          </a:p>
        </p:txBody>
      </p:sp>
      <p:sp>
        <p:nvSpPr>
          <p:cNvPr id="38" name="Rounded Rectangle 38"/>
          <p:cNvSpPr/>
          <p:nvPr/>
        </p:nvSpPr>
        <p:spPr>
          <a:xfrm>
            <a:off x="8174736" y="452628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 xml:space="preserve">Test</a:t>
            </a:r>
          </a:p>
        </p:txBody>
      </p:sp>
      <p:sp>
        <p:nvSpPr>
          <p:cNvPr id="39" name="Right Arrow 39"/>
          <p:cNvSpPr/>
          <p:nvPr/>
        </p:nvSpPr>
        <p:spPr>
          <a:xfrm>
            <a:off x="9710928" y="4636008"/>
            <a:ext cx="274320" cy="22860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40" name="TextBox 40"/>
          <p:cNvSpPr txBox="1"/>
          <p:nvPr/>
        </p:nvSpPr>
        <p:spPr>
          <a:xfrm>
            <a:off x="8174736" y="500176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b="0" dirty="0">
                <a:solidFill>
                  <a:srgbClr val="5A5A5A"/>
                </a:solidFill>
                <a:latin typeface="Calibri"/>
              </a:rPr>
              <a:t xml:space="preserve">Step 5</a:t>
            </a:r>
          </a:p>
        </p:txBody>
      </p:sp>
      <p:sp>
        <p:nvSpPr>
          <p:cNvPr id="41" name="Rounded Rectangle 41"/>
          <p:cNvSpPr/>
          <p:nvPr/>
        </p:nvSpPr>
        <p:spPr>
          <a:xfrm>
            <a:off x="10058400" y="452628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 xml:space="preserve">Deploy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58400" y="500176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b="0" dirty="0">
                <a:solidFill>
                  <a:srgbClr val="5A5A5A"/>
                </a:solidFill>
                <a:latin typeface="Calibri"/>
              </a:rPr>
              <a:t xml:space="preserve">Step 6</a:t>
            </a:r>
          </a:p>
        </p:txBody>
      </p:sp>
      <p:sp>
        <p:nvSpPr>
          <p:cNvPr id="43" name="Slide Number Placeholder 43"/>
          <p:cNvSpPr>
            <a:spLocks noGrp="1"/>
          </p:cNvSpPr>
          <p:nvPr>
            <p:ph type="sldNum" sz="quarter" idx="7"/>
          </p:nvPr>
        </p:nvSpPr>
        <p:spPr>
          <a:xfrm>
            <a:off x="10990000" y="6520000"/>
            <a:ext cx="572000" cy="300000"/>
          </a:xfr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fld id="{65C9472B-1202-4233-AC4E-A5AD73FFF9C1}" type="slidenum">
              <a:rPr lang="en-US" sz="1600" b="1">
                <a:solidFill>
                  <a:srgbClr val="801800"/>
                </a:solidFill>
              </a:rPr>
              <a:t>‹#›</a:t>
            </a:fld>
            <a:endParaRPr lang="en-US" sz="1600" b="1">
              <a:solidFill>
                <a:srgbClr val="801800"/>
              </a:solidFill>
            </a:endParaRPr>
          </a:p>
        </p:txBody>
      </p:sp>
      <p:pic>
        <p:nvPicPr>
          <p:cNvPr id="44" name="Picture 43" descr="calc_u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1947672"/>
            <a:ext cx="1920240" cy="1203686"/>
          </a:xfrm>
          <a:prstGeom prst="rect">
            <a:avLst/>
          </a:prstGeom>
        </p:spPr>
      </p:pic>
      <p:pic>
        <p:nvPicPr>
          <p:cNvPr id="45" name="Picture 44" descr="calc_log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6936" y="1947672"/>
            <a:ext cx="1920240" cy="1203686"/>
          </a:xfrm>
          <a:prstGeom prst="rect">
            <a:avLst/>
          </a:prstGeom>
        </p:spPr>
      </p:pic>
      <p:pic>
        <p:nvPicPr>
          <p:cNvPr id="46" name="Picture 45" descr="shop_li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1947672"/>
            <a:ext cx="1920240" cy="1203686"/>
          </a:xfrm>
          <a:prstGeom prst="rect">
            <a:avLst/>
          </a:prstGeom>
        </p:spPr>
      </p:pic>
      <p:pic>
        <p:nvPicPr>
          <p:cNvPr id="47" name="Picture 46" descr="c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4344" y="1947672"/>
            <a:ext cx="1920240" cy="1203686"/>
          </a:xfrm>
          <a:prstGeom prst="rect">
            <a:avLst/>
          </a:prstGeom>
        </p:spPr>
      </p:pic>
      <p:pic>
        <p:nvPicPr>
          <p:cNvPr id="48" name="Picture 47" descr="checko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8048" y="1947672"/>
            <a:ext cx="1920240" cy="12036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73152"/>
            <a:ext cx="7498079" cy="384048"/>
          </a:xfrm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Major Project: E-Commerce Website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3319272"/>
            <a:ext cx="5120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100" b="0" dirty="0">
                <a:solidFill>
                  <a:srgbClr val="5A5A5A"/>
                </a:solidFill>
                <a:latin typeface="Calibri"/>
              </a:rPr>
              <a:t xml:space="preserve">Home page of the e-commerce website</a:t>
            </a:r>
          </a:p>
        </p:txBody>
      </p:sp>
      <p:sp>
        <p:nvSpPr>
          <p:cNvPr id="5" name="Rounded Rectangle 5"/>
          <p:cNvSpPr/>
          <p:nvPr/>
        </p:nvSpPr>
        <p:spPr>
          <a:xfrm>
            <a:off x="640080" y="3657600"/>
            <a:ext cx="5120640" cy="164592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777240" y="3703320"/>
            <a:ext cx="48463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Project overview</a:t>
            </a:r>
          </a:p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A responsive online shopping website where users can browse products, add them to the cart and place an order.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Technologies used</a:t>
            </a:r>
          </a:p>
          <a:p>
            <a:pPr algn="l">
              <a:spcAft>
                <a:spcPts val="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HTML  •  CSS  •  JavaScript</a:t>
            </a:r>
          </a:p>
        </p:txBody>
      </p:sp>
      <p:sp>
        <p:nvSpPr>
          <p:cNvPr id="7" name="Rounded Rectangle 7"/>
          <p:cNvSpPr/>
          <p:nvPr/>
        </p:nvSpPr>
        <p:spPr>
          <a:xfrm>
            <a:off x="6035040" y="128016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8" name="TextBox 8"/>
          <p:cNvSpPr txBox="1"/>
          <p:nvPr/>
        </p:nvSpPr>
        <p:spPr>
          <a:xfrm>
            <a:off x="6172200" y="1353312"/>
            <a:ext cx="5212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900" b="1" dirty="0">
                <a:solidFill>
                  <a:srgbClr val="801600"/>
                </a:solidFill>
                <a:latin typeface="Calibri"/>
              </a:rPr>
              <a:t xml:space="preserve">Online Shopping Website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72200" y="1810512"/>
            <a:ext cx="521208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C83200"/>
                </a:solidFill>
                <a:latin typeface="Calibri"/>
              </a:rPr>
              <a:t xml:space="preserve">Implementation</a:t>
            </a:r>
          </a:p>
          <a:p>
            <a:pPr algn="l" marL="228600" indent="-228600">
              <a:spcAft>
                <a:spcPts val="3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Home, Products, Cart and Checkout pages built with semantic HTML and responsive CSS.</a:t>
            </a:r>
          </a:p>
          <a:p>
            <a:pPr algn="l" marL="228600" indent="-228600">
              <a:spcAft>
                <a:spcPts val="3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Product cards, add-to-cart, quantity update, remove item, live total price and form validation using JavaScript.</a:t>
            </a:r>
          </a:p>
          <a:p>
            <a:pPr algn="l" marL="228600" indent="-228600">
              <a:spcAft>
                <a:spcPts val="8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Cart data is stored in the browser using LocalStorage so items remain after refresh.</a:t>
            </a:r>
          </a:p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C83200"/>
                </a:solidFill>
                <a:latin typeface="Calibri"/>
              </a:rPr>
              <a:t xml:space="preserve">Key learning</a:t>
            </a:r>
          </a:p>
          <a:p>
            <a:pPr algn="l">
              <a:spcAft>
                <a:spcPts val="8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DOM manipulation, event handling, responsive layouts and managing cart data with JavaScript objects and arrays.</a:t>
            </a:r>
          </a:p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C83200"/>
                </a:solidFill>
                <a:latin typeface="Calibri"/>
              </a:rPr>
              <a:t xml:space="preserve">Practical experience</a:t>
            </a:r>
          </a:p>
          <a:p>
            <a:pPr algn="l">
              <a:spcAft>
                <a:spcPts val="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Built, tested and organised a complete shopping flow, from product listing to order confirmation, and uploaded the code to GitHub.</a:t>
            </a:r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7"/>
          </p:nvPr>
        </p:nvSpPr>
        <p:spPr>
          <a:xfrm>
            <a:off x="10990000" y="6520000"/>
            <a:ext cx="572000" cy="300000"/>
          </a:xfr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fld id="{65C9472B-1202-4233-AC4E-A5AD73FFF9C1}" type="slidenum">
              <a:rPr lang="en-US" sz="1600" b="1">
                <a:solidFill>
                  <a:srgbClr val="801800"/>
                </a:solidFill>
              </a:rPr>
              <a:t>‹#›</a:t>
            </a:fld>
            <a:endParaRPr lang="en-US" sz="1600" b="1">
              <a:solidFill>
                <a:srgbClr val="801800"/>
              </a:solidFill>
            </a:endParaRPr>
          </a:p>
        </p:txBody>
      </p:sp>
      <p:pic>
        <p:nvPicPr>
          <p:cNvPr id="11" name="Picture 10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51206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73152"/>
            <a:ext cx="7498079" cy="384048"/>
          </a:xfrm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Learning Outcomes</a:t>
            </a:r>
          </a:p>
        </p:txBody>
      </p:sp>
      <p:sp>
        <p:nvSpPr>
          <p:cNvPr id="3" name="Rounded Rectangle 3"/>
          <p:cNvSpPr/>
          <p:nvPr/>
        </p:nvSpPr>
        <p:spPr>
          <a:xfrm>
            <a:off x="640080" y="1234440"/>
            <a:ext cx="3502152" cy="292608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4" name="Rounded Rectangle 4"/>
          <p:cNvSpPr/>
          <p:nvPr/>
        </p:nvSpPr>
        <p:spPr>
          <a:xfrm>
            <a:off x="777240" y="137160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 xml:space="preserve"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7320" y="1371600"/>
            <a:ext cx="2587752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900" b="1" dirty="0">
                <a:solidFill>
                  <a:srgbClr val="801600"/>
                </a:solidFill>
                <a:latin typeface="Calibri"/>
              </a:rPr>
              <a:t xml:space="preserve">Technical Skills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2057400"/>
            <a:ext cx="3227832" cy="2057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HTML, CSS and JavaScript fundamentals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Responsive layouts with Flexbox and Grid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DOM manipulation and event handling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Clean, reusable code structure</a:t>
            </a:r>
          </a:p>
        </p:txBody>
      </p:sp>
      <p:sp>
        <p:nvSpPr>
          <p:cNvPr id="7" name="Rounded Rectangle 7"/>
          <p:cNvSpPr/>
          <p:nvPr/>
        </p:nvSpPr>
        <p:spPr>
          <a:xfrm>
            <a:off x="4329684" y="1234440"/>
            <a:ext cx="3502152" cy="292608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8" name="Rounded Rectangle 8"/>
          <p:cNvSpPr/>
          <p:nvPr/>
        </p:nvSpPr>
        <p:spPr>
          <a:xfrm>
            <a:off x="4466844" y="137160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 xml:space="preserve"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6924" y="1371600"/>
            <a:ext cx="2587752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900" b="1" dirty="0">
                <a:solidFill>
                  <a:srgbClr val="801600"/>
                </a:solidFill>
                <a:latin typeface="Calibri"/>
              </a:rPr>
              <a:t xml:space="preserve">Practical Experience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66844" y="2057400"/>
            <a:ext cx="3227832" cy="2057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Built a simple calculator from scratch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Developed an e-commerce shopping flow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Tested layouts from phone to desktop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Debugged logic and layout issues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Used Git and GitHub to manage code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019288" y="1234440"/>
            <a:ext cx="3502152" cy="292608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2" name="Rounded Rectangle 12"/>
          <p:cNvSpPr/>
          <p:nvPr/>
        </p:nvSpPr>
        <p:spPr>
          <a:xfrm>
            <a:off x="8156448" y="137160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80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 xml:space="preserve"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96528" y="1371600"/>
            <a:ext cx="2587752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900" b="1" dirty="0">
                <a:solidFill>
                  <a:srgbClr val="801600"/>
                </a:solidFill>
                <a:latin typeface="Calibri"/>
              </a:rPr>
              <a:t xml:space="preserve">Knowledge Gained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56448" y="2057400"/>
            <a:ext cx="3227832" cy="2057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Followed a project from idea to working website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Learned to break big features into small tasks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Planned work in steps and finished on time</a:t>
            </a:r>
          </a:p>
          <a:p>
            <a:pPr algn="l" marL="228600" indent="-228600">
              <a:spcAft>
                <a:spcPts val="5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Improved with feedback and testing</a:t>
            </a:r>
          </a:p>
        </p:txBody>
      </p:sp>
      <p:sp>
        <p:nvSpPr>
          <p:cNvPr id="15" name="Rounded Rectangle 15"/>
          <p:cNvSpPr/>
          <p:nvPr/>
        </p:nvSpPr>
        <p:spPr>
          <a:xfrm>
            <a:off x="640080" y="429768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6" name="TextBox 16"/>
          <p:cNvSpPr txBox="1"/>
          <p:nvPr/>
        </p:nvSpPr>
        <p:spPr>
          <a:xfrm>
            <a:off x="777240" y="4297680"/>
            <a:ext cx="1060704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2B2B2B"/>
                </a:solidFill>
                <a:latin typeface="Calibri"/>
              </a:rPr>
              <a:t xml:space="preserve">The InternPe internship gave practical experience in front-end web development by building a simple calculator and a complete e-commerce website.</a:t>
            </a:r>
          </a:p>
        </p:txBody>
      </p:sp>
      <p:sp>
        <p:nvSpPr>
          <p:cNvPr id="18" name="Slide Number Placeholder 18"/>
          <p:cNvSpPr>
            <a:spLocks noGrp="1"/>
          </p:cNvSpPr>
          <p:nvPr>
            <p:ph type="sldNum" sz="quarter" idx="7"/>
          </p:nvPr>
        </p:nvSpPr>
        <p:spPr>
          <a:xfrm>
            <a:off x="10990000" y="6520000"/>
            <a:ext cx="572000" cy="300000"/>
          </a:xfr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fld id="{65C9472B-1202-4233-AC4E-A5AD73FFF9C1}" type="slidenum">
              <a:rPr lang="en-US" sz="1600" b="1">
                <a:solidFill>
                  <a:srgbClr val="801800"/>
                </a:solidFill>
              </a:rPr>
              <a:t>‹#›</a:t>
            </a:fld>
            <a:endParaRPr lang="en-US" sz="1600" b="1">
              <a:solidFill>
                <a:srgbClr val="8018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73152"/>
            <a:ext cx="7498079" cy="384048"/>
          </a:xfrm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Major Project: Simple Calculator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3319272"/>
            <a:ext cx="5120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100" b="0" dirty="0">
                <a:solidFill>
                  <a:srgbClr val="5A5A5A"/>
                </a:solidFill>
                <a:latin typeface="Calibri"/>
              </a:rPr>
              <a:t xml:space="preserve">Home page of the simple calculator</a:t>
            </a:r>
          </a:p>
        </p:txBody>
      </p:sp>
      <p:sp>
        <p:nvSpPr>
          <p:cNvPr id="5" name="Rounded Rectangle 5"/>
          <p:cNvSpPr/>
          <p:nvPr/>
        </p:nvSpPr>
        <p:spPr>
          <a:xfrm>
            <a:off x="640080" y="3657600"/>
            <a:ext cx="5120640" cy="164592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777240" y="3703320"/>
            <a:ext cx="48463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Project overview</a:t>
            </a:r>
          </a:p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A responsive web calculator that performs basic arithmetic operations with a clean keypad and display.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801600"/>
                </a:solidFill>
                <a:latin typeface="Calibri"/>
              </a:rPr>
              <a:t xml:space="preserve">Technologies used</a:t>
            </a:r>
          </a:p>
          <a:p>
            <a:pPr algn="l">
              <a:spcAft>
                <a:spcPts val="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HTML  •  CSS  •  JavaScript</a:t>
            </a:r>
          </a:p>
        </p:txBody>
      </p:sp>
      <p:sp>
        <p:nvSpPr>
          <p:cNvPr id="7" name="Rounded Rectangle 7"/>
          <p:cNvSpPr/>
          <p:nvPr/>
        </p:nvSpPr>
        <p:spPr>
          <a:xfrm>
            <a:off x="6035040" y="128016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8" name="TextBox 8"/>
          <p:cNvSpPr txBox="1"/>
          <p:nvPr/>
        </p:nvSpPr>
        <p:spPr>
          <a:xfrm>
            <a:off x="6172200" y="1353312"/>
            <a:ext cx="5212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900" b="1" dirty="0">
                <a:solidFill>
                  <a:srgbClr val="801600"/>
                </a:solidFill>
                <a:latin typeface="Calibri"/>
              </a:rPr>
              <a:t xml:space="preserve">Basic Arithmetic Calculator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72200" y="1810512"/>
            <a:ext cx="521208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C83200"/>
                </a:solidFill>
                <a:latin typeface="Calibri"/>
              </a:rPr>
              <a:t xml:space="preserve">Implementation</a:t>
            </a:r>
          </a:p>
          <a:p>
            <a:pPr algn="l" marL="228600" indent="-228600">
              <a:spcAft>
                <a:spcPts val="3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Calculator layout built with HTML buttons and a CSS Grid keypad that adapts to mobile and desktop screens.</a:t>
            </a:r>
          </a:p>
          <a:p>
            <a:pPr algn="l" marL="228600" indent="-228600">
              <a:spcAft>
                <a:spcPts val="3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JavaScript handles addition, subtraction, multiplication, division, percentage, decimal input, clear and delete.</a:t>
            </a:r>
          </a:p>
          <a:p>
            <a:pPr algn="l" marL="228600" indent="-228600">
              <a:spcAft>
                <a:spcPts val="800"/>
              </a:spcAft>
              <a:buClr>
                <a:srgbClr val="C83200"/>
              </a:buClr>
              <a:buFont typeface="Arial"/>
              <a:buChar char="•"/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Divide-by-zero and invalid inputs are handled with an error message instead of breaking the display.</a:t>
            </a:r>
          </a:p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C83200"/>
                </a:solidFill>
                <a:latin typeface="Calibri"/>
              </a:rPr>
              <a:t xml:space="preserve">Key learning</a:t>
            </a:r>
          </a:p>
          <a:p>
            <a:pPr algn="l">
              <a:spcAft>
                <a:spcPts val="80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DOM manipulation, click event handling, functions, conditional logic and string-to-number conversion.</a:t>
            </a:r>
          </a:p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C83200"/>
                </a:solidFill>
                <a:latin typeface="Calibri"/>
              </a:rPr>
              <a:t xml:space="preserve">Practical experience</a:t>
            </a:r>
          </a:p>
          <a:p>
            <a:pPr algn="l">
              <a:spcAft>
                <a:spcPts val="0"/>
              </a:spcAft>
            </a:pPr>
            <a:r>
              <a:rPr lang="en-US" sz="1400" b="0" dirty="0">
                <a:solidFill>
                  <a:srgbClr val="2B2B2B"/>
                </a:solidFill>
                <a:latin typeface="Calibri"/>
              </a:rPr>
              <a:t xml:space="preserve">Built a working calculator from scratch, tested every operation, fixed logic bugs and uploaded the code to GitHub.</a:t>
            </a:r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7"/>
          </p:nvPr>
        </p:nvSpPr>
        <p:spPr>
          <a:xfrm>
            <a:off x="10990000" y="6520000"/>
            <a:ext cx="572000" cy="300000"/>
          </a:xfr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fld id="{65C9472B-1202-4233-AC4E-A5AD73FFF9C1}" type="slidenum">
              <a:rPr lang="en-US" sz="1600" b="1">
                <a:solidFill>
                  <a:srgbClr val="801800"/>
                </a:solidFill>
              </a:rPr>
              <a:t>‹#›</a:t>
            </a:fld>
            <a:endParaRPr lang="en-US" sz="1600" b="1">
              <a:solidFill>
                <a:srgbClr val="801800"/>
              </a:solidFill>
            </a:endParaRPr>
          </a:p>
        </p:txBody>
      </p:sp>
      <p:pic>
        <p:nvPicPr>
          <p:cNvPr id="11" name="Picture 10" descr="calc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1206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73152"/>
            <a:ext cx="7498079" cy="384048"/>
          </a:xfrm>
        </p:spPr>
        <p:txBody>
          <a:bodyPr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Internship Certificate</a:t>
            </a:r>
          </a:p>
        </p:txBody>
      </p:sp>
      <p:pic>
        <p:nvPicPr>
          <p:cNvPr id="30" name="Certificate" descr="InternPe internship completion certificate of Dhivya R, Web Develop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408" y="1143000"/>
            <a:ext cx="3566878" cy="5029200"/>
          </a:xfrm>
          <a:prstGeom prst="rect">
            <a:avLst/>
          </a:prstGeom>
          <a:ln w="12700">
            <a:solidFill>
              <a:srgbClr val="801600"/>
            </a:solidFill>
          </a:ln>
        </p:spPr>
      </p:pic>
      <p:sp>
        <p:nvSpPr>
          <p:cNvPr id="19" name="Slide Number Placeholder 19"/>
          <p:cNvSpPr>
            <a:spLocks noGrp="1"/>
          </p:cNvSpPr>
          <p:nvPr>
            <p:ph type="sldNum" sz="quarter" idx="7"/>
          </p:nvPr>
        </p:nvSpPr>
        <p:spPr>
          <a:xfrm>
            <a:off x="10990000" y="6520000"/>
            <a:ext cx="572000" cy="300000"/>
          </a:xfr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fld id="{65C9472B-1202-4233-AC4E-A5AD73FFF9C1}" type="slidenum">
              <a:rPr lang="en-US" sz="1600" b="1">
                <a:solidFill>
                  <a:srgbClr val="801800"/>
                </a:solidFill>
              </a:rPr>
              <a:t>‹#›</a:t>
            </a:fld>
            <a:endParaRPr lang="en-US" sz="1600" b="1">
              <a:solidFill>
                <a:srgbClr val="8018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nn theme">
  <a:themeElements>
    <a:clrScheme name="Custom 1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2D82F4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Custom 2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nn theme" id="{C48DF7EC-E3BA-40BB-B151-78E646B98C38}" vid="{B2E6017A-018E-4A84-BC8B-FD093EA670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0</Words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Garamond</vt:lpstr>
      <vt:lpstr>jnn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 – Hariharan RG</dc:title>
  <dcterms:created xsi:type="dcterms:W3CDTF">2025-03-02T13:48:42Z</dcterms:created>
  <dcterms:modified xsi:type="dcterms:W3CDTF">2026-04-07T15:54:28Z</dcterms:modified>
</cp:coreProperties>
</file>